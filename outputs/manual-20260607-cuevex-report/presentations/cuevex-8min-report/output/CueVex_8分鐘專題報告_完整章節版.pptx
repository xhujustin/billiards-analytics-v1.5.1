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33b0cd86b644f5" /><Relationship Type="http://schemas.openxmlformats.org/officeDocument/2006/relationships/extended-properties" Target="/docProps/app.xml" Id="R90b75c4303ed44ce" /><Relationship Type="http://schemas.openxmlformats.org/officeDocument/2006/relationships/officeDocument" Target="/ppt/presentation.xml" Id="R64fd9315d2a640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3625674fd4467b"/>
  </p:sldMasterIdLst>
  <p:notesMasterIdLst>
    <p:notesMasterId xmlns:r="http://schemas.openxmlformats.org/officeDocument/2006/relationships" r:id="R8b6901e7c3a94686"/>
  </p:notesMasterIdLst>
  <p:sldIdLst>
    <p:sldId xmlns:r="http://schemas.openxmlformats.org/officeDocument/2006/relationships" id="256" r:id="R482a01751edf42e7"/>
    <p:sldId xmlns:r="http://schemas.openxmlformats.org/officeDocument/2006/relationships" id="257" r:id="Rdc22ff75faaf48ee"/>
    <p:sldId xmlns:r="http://schemas.openxmlformats.org/officeDocument/2006/relationships" id="258" r:id="R3793a5ba3c654261"/>
    <p:sldId xmlns:r="http://schemas.openxmlformats.org/officeDocument/2006/relationships" id="259" r:id="R5c4e9fb9877b4026"/>
    <p:sldId xmlns:r="http://schemas.openxmlformats.org/officeDocument/2006/relationships" id="260" r:id="R7e96e175af014f08"/>
    <p:sldId xmlns:r="http://schemas.openxmlformats.org/officeDocument/2006/relationships" id="261" r:id="R21871f74695d4b22"/>
    <p:sldId xmlns:r="http://schemas.openxmlformats.org/officeDocument/2006/relationships" id="262" r:id="R3053f31ec6344091"/>
    <p:sldId xmlns:r="http://schemas.openxmlformats.org/officeDocument/2006/relationships" id="263" r:id="R7c0b4af9c9984edf"/>
    <p:sldId xmlns:r="http://schemas.openxmlformats.org/officeDocument/2006/relationships" id="264" r:id="R6c73656d53234bb4"/>
    <p:sldId xmlns:r="http://schemas.openxmlformats.org/officeDocument/2006/relationships" id="265" r:id="Rad2ab60312fe4ccb"/>
    <p:sldId xmlns:r="http://schemas.openxmlformats.org/officeDocument/2006/relationships" id="266" r:id="Re5e942fc40c24b24"/>
    <p:sldId xmlns:r="http://schemas.openxmlformats.org/officeDocument/2006/relationships" id="267" r:id="R6adef34e207d4b15"/>
    <p:sldId xmlns:r="http://schemas.openxmlformats.org/officeDocument/2006/relationships" id="268" r:id="R0b1b79b75b4a48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1e3aae97804957" /><Relationship Type="http://schemas.openxmlformats.org/officeDocument/2006/relationships/slideMaster" Target="/ppt/slideMasters/slideMaster1.xml" Id="R703625674fd4467b" /><Relationship Type="http://schemas.openxmlformats.org/officeDocument/2006/relationships/notesMaster" Target="/ppt/notesMasters/notesMaster1.xml" Id="R8b6901e7c3a94686" /><Relationship Type="http://schemas.openxmlformats.org/officeDocument/2006/relationships/presProps" Target="/ppt/presProps.xml" Id="Rc7d457f751c947a2" /><Relationship Type="http://schemas.openxmlformats.org/officeDocument/2006/relationships/viewProps" Target="/ppt/viewProps.xml" Id="R974dcbee35f34c28" /><Relationship Type="http://schemas.openxmlformats.org/officeDocument/2006/relationships/tableStyles" Target="/ppt/tableStyles.xml" Id="R3eec38dadf984338" /><Relationship Type="http://schemas.openxmlformats.org/officeDocument/2006/relationships/slide" Target="/ppt/slides/slide1.xml" Id="R482a01751edf42e7" /><Relationship Type="http://schemas.openxmlformats.org/officeDocument/2006/relationships/slide" Target="/ppt/slides/slide2.xml" Id="Rdc22ff75faaf48ee" /><Relationship Type="http://schemas.openxmlformats.org/officeDocument/2006/relationships/slide" Target="/ppt/slides/slide3.xml" Id="R3793a5ba3c654261" /><Relationship Type="http://schemas.openxmlformats.org/officeDocument/2006/relationships/slide" Target="/ppt/slides/slide4.xml" Id="R5c4e9fb9877b4026" /><Relationship Type="http://schemas.openxmlformats.org/officeDocument/2006/relationships/slide" Target="/ppt/slides/slide5.xml" Id="R7e96e175af014f08" /><Relationship Type="http://schemas.openxmlformats.org/officeDocument/2006/relationships/slide" Target="/ppt/slides/slide6.xml" Id="R21871f74695d4b22" /><Relationship Type="http://schemas.openxmlformats.org/officeDocument/2006/relationships/slide" Target="/ppt/slides/slide7.xml" Id="R3053f31ec6344091" /><Relationship Type="http://schemas.openxmlformats.org/officeDocument/2006/relationships/slide" Target="/ppt/slides/slide8.xml" Id="R7c0b4af9c9984edf" /><Relationship Type="http://schemas.openxmlformats.org/officeDocument/2006/relationships/slide" Target="/ppt/slides/slide9.xml" Id="R6c73656d53234bb4" /><Relationship Type="http://schemas.openxmlformats.org/officeDocument/2006/relationships/slide" Target="/ppt/slides/slide10.xml" Id="Rad2ab60312fe4ccb" /><Relationship Type="http://schemas.openxmlformats.org/officeDocument/2006/relationships/slide" Target="/ppt/slides/slide11.xml" Id="Re5e942fc40c24b24" /><Relationship Type="http://schemas.openxmlformats.org/officeDocument/2006/relationships/slide" Target="/ppt/slides/slide12.xml" Id="R6adef34e207d4b15" /><Relationship Type="http://schemas.openxmlformats.org/officeDocument/2006/relationships/slide" Target="/ppt/slides/slide13.xml" Id="R0b1b79b75b4a48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0dfeb25e1441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054c29602b4ec3" /><Relationship Type="http://schemas.openxmlformats.org/officeDocument/2006/relationships/notesMaster" Target="/ppt/notesMasters/notesMaster1.xml" Id="R13f22541a64847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1d05956121428a" /><Relationship Type="http://schemas.openxmlformats.org/officeDocument/2006/relationships/notesMaster" Target="/ppt/notesMasters/notesMaster1.xml" Id="R99e3910f101049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0b557c8df34f32" /><Relationship Type="http://schemas.openxmlformats.org/officeDocument/2006/relationships/notesMaster" Target="/ppt/notesMasters/notesMaster1.xml" Id="R1b864a166fc443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d47dee58a84a40" /><Relationship Type="http://schemas.openxmlformats.org/officeDocument/2006/relationships/notesMaster" Target="/ppt/notesMasters/notesMaster1.xml" Id="R723b919576714a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f3c3624fa84b23" /><Relationship Type="http://schemas.openxmlformats.org/officeDocument/2006/relationships/notesMaster" Target="/ppt/notesMasters/notesMaster1.xml" Id="Rc80ddd51b6704c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a9aee8a840453b" /><Relationship Type="http://schemas.openxmlformats.org/officeDocument/2006/relationships/notesMaster" Target="/ppt/notesMasters/notesMaster1.xml" Id="R43933a4744074d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bf261b1d274cb3" /><Relationship Type="http://schemas.openxmlformats.org/officeDocument/2006/relationships/notesMaster" Target="/ppt/notesMasters/notesMaster1.xml" Id="Rc79902b909c64e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b8c92bf4234d23" /><Relationship Type="http://schemas.openxmlformats.org/officeDocument/2006/relationships/notesMaster" Target="/ppt/notesMasters/notesMaster1.xml" Id="Rb1dbd2e105884a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14309b42234d87" /><Relationship Type="http://schemas.openxmlformats.org/officeDocument/2006/relationships/notesMaster" Target="/ppt/notesMasters/notesMaster1.xml" Id="Rc39cde38ea2243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718f86ebe845ea" /><Relationship Type="http://schemas.openxmlformats.org/officeDocument/2006/relationships/notesMaster" Target="/ppt/notesMasters/notesMaster1.xml" Id="Rc23ea823b03848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1e278da67748ed" /><Relationship Type="http://schemas.openxmlformats.org/officeDocument/2006/relationships/notesMaster" Target="/ppt/notesMasters/notesMaster1.xml" Id="R30d28dcb15af44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d52f2ac5944f08" /><Relationship Type="http://schemas.openxmlformats.org/officeDocument/2006/relationships/notesMaster" Target="/ppt/notesMasters/notesMaster1.xml" Id="R82b8ebf3d9264b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bf842f4fc84118" /><Relationship Type="http://schemas.openxmlformats.org/officeDocument/2006/relationships/notesMaster" Target="/ppt/notesMasters/notesMaster1.xml" Id="R41529ec5bffb4f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c5964b6e740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66bb2c9e4c4804" /><Relationship Type="http://schemas.openxmlformats.org/officeDocument/2006/relationships/slideLayout" Target="/ppt/slideLayouts/slideLayout1.xml" Id="R56c19f5151f34f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c19f5151f34f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0574aa22f4d63" /><Relationship Type="http://schemas.openxmlformats.org/officeDocument/2006/relationships/notesSlide" Target="/ppt/notesSlides/notesSlide1.xml" Id="R5a33279e7a9f48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3c9621f6946fa" /><Relationship Type="http://schemas.openxmlformats.org/officeDocument/2006/relationships/notesSlide" Target="/ppt/notesSlides/notesSlide2.xml" Id="Ra9160cb5f6ae45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e471e26e047ba" /><Relationship Type="http://schemas.openxmlformats.org/officeDocument/2006/relationships/notesSlide" Target="/ppt/notesSlides/notesSlide3.xml" Id="R5d3b67b1f4e746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ab302f809408d" /><Relationship Type="http://schemas.openxmlformats.org/officeDocument/2006/relationships/notesSlide" Target="/ppt/notesSlides/notesSlide4.xml" Id="R3b3a1fe05d184f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2b1547d954031" /><Relationship Type="http://schemas.openxmlformats.org/officeDocument/2006/relationships/notesSlide" Target="/ppt/notesSlides/notesSlide5.xml" Id="Rd5a5576baa3748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a74bd167242fb" /><Relationship Type="http://schemas.openxmlformats.org/officeDocument/2006/relationships/notesSlide" Target="/ppt/notesSlides/notesSlide6.xml" Id="R46d9cc292b4b46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bcabac32446fc" /><Relationship Type="http://schemas.openxmlformats.org/officeDocument/2006/relationships/notesSlide" Target="/ppt/notesSlides/notesSlide7.xml" Id="R56614071010342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91947308f4253" /><Relationship Type="http://schemas.openxmlformats.org/officeDocument/2006/relationships/notesSlide" Target="/ppt/notesSlides/notesSlide8.xml" Id="Rf35bdf771fc844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88e0fb447479c" /><Relationship Type="http://schemas.openxmlformats.org/officeDocument/2006/relationships/notesSlide" Target="/ppt/notesSlides/notesSlide9.xml" Id="R2514bf50508140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cfb554d934f7a" /><Relationship Type="http://schemas.openxmlformats.org/officeDocument/2006/relationships/notesSlide" Target="/ppt/notesSlides/notesSlide10.xml" Id="R7b85a36b358c46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c330a05e94173" /><Relationship Type="http://schemas.openxmlformats.org/officeDocument/2006/relationships/notesSlide" Target="/ppt/notesSlides/notesSlide11.xml" Id="R158686676e6e4c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85e79afd24567" /><Relationship Type="http://schemas.openxmlformats.org/officeDocument/2006/relationships/notesSlide" Target="/ppt/notesSlides/notesSlide12.xml" Id="R3b9204a6f59345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0d091e0384cd1" /><Relationship Type="http://schemas.openxmlformats.org/officeDocument/2006/relationships/notesSlide" Target="/ppt/notesSlides/notesSlide13.xml" Id="Rad507bedb5c44e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5F394E-4FFC-452C-B5B6-5A6E9789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3AB8B-0BE6-4391-A1D5-F08BB145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F70B8-50B4-4DD9-8989-2A3F3623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8572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1F"/>
          </a:solidFill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6C0CB-FF35-4F67-9F41-1F83591A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9525">
            <a:solidFill>
              <a:srgbClr val="F6F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0CC0B-7F97-41B5-A190-B54E1307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7B2A6-241A-4D9F-9B47-51630B56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9525">
            <a:solidFill>
              <a:srgbClr val="C06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42EC6-DA05-45E5-BB5E-2F77A06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290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7BF4C-0FA2-4A53-83F3-1D52F365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專題報告｜8 分鐘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C8E35-44A5-43D5-9E89-7C59EF01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CueVex 智慧撞球訓練平台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9C176-B0BA-4B5A-84F0-45CB2E7F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AE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CEAE3"/>
                </a:solidFill>
                <a:latin typeface="Aptos"/>
                <a:ea typeface="Aptos"/>
                <a:cs typeface="Aptos"/>
              </a:rPr>
              <a:t>即時球位辨識、投影輔助、AI Coach 與 Mobile 數據服務整合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97105-8BEB-47BC-B82A-978D7D09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628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把撞球練習從一次性觀看，改成可辨識、可建議、可回放、可追蹤的訓練閉環。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B77D3-38BF-47ED-98C5-AEFF8C2E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4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FD4CE"/>
                </a:solidFill>
                <a:latin typeface="Aptos"/>
                <a:ea typeface="Aptos"/>
                <a:cs typeface="Aptos"/>
              </a:rPr>
              <a:t>組員 / 指導老師 / 課程名稱：可於此頁直接編輯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63C20-88E5-407B-8CCD-4FF50E88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912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CEAE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AE3"/>
                </a:solidFill>
                <a:latin typeface="Aptos"/>
                <a:ea typeface="Aptos"/>
                <a:cs typeface="Aptos"/>
              </a:rPr>
              <a:t>1 / 13</a:t>
            </a:r>
          </a:p>
        </p:txBody>
      </p:sp>
    </p:spTree>
    <p:extLst>
      <p:ext uri="{BB962C8B-B14F-4D97-AF65-F5344CB8AC3E}">
        <p14:creationId xmlns:p14="http://schemas.microsoft.com/office/powerpoint/2010/main" val="19263841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7FBB9-3F59-4BC3-B6C1-33038BC5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9E4E-972C-46F0-856D-FF9DC276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7AEF4-05E3-4687-9886-E2CA48CB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82CCC-474F-4D2C-93B0-C654F520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目錄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396A9-93E6-4A69-A5C7-CD1582CE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2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5B43A-A6F6-4E3E-AA21-1016E6D1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報告大綱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4022B-FFF0-47E6-8EDB-7C0EA991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本報告依照背景、問題、目標、架構、技術、功能、畫面、流程、成果、問題解法與展望說明 CueVex。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72F4B-BA4A-47DD-A71E-6F5BDEDB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E6D7A-2AEC-49D0-B41A-6F54BDB3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研究背景與動機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62F13-5C2A-4021-B730-AFDD047A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194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82D09-3735-4E3F-A66F-A4027A47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4B52D-EFC4-4AE2-831E-9552DE86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342F"/>
                </a:solidFill>
                <a:latin typeface="Aptos"/>
                <a:ea typeface="Aptos"/>
                <a:cs typeface="Aptos"/>
              </a:rPr>
              <a:t>問題定義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C19AF-6C8D-4EAB-B2C9-DC6F5A06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147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0F55F-1259-4003-AE9E-7AA5BB79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343CF-C079-4D24-9E1E-6569680A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342F"/>
                </a:solidFill>
                <a:latin typeface="Aptos"/>
                <a:ea typeface="Aptos"/>
                <a:cs typeface="Aptos"/>
              </a:rPr>
              <a:t>系統目標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7BFB1-224D-4E31-BD09-DF9166C0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00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DBF93-DF33-4451-A716-7A60DE96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1D0BA-A73C-40FA-9F50-FF79A083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342F"/>
                </a:solidFill>
                <a:latin typeface="Aptos"/>
                <a:ea typeface="Aptos"/>
                <a:cs typeface="Aptos"/>
              </a:rPr>
              <a:t>系統架構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68E30-5BA2-44B9-9C67-400CB3AD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053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3DAC3-CFBD-4678-959E-3E819295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FA408-66F7-462A-911B-90DD7A8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342F"/>
                </a:solidFill>
                <a:latin typeface="Aptos"/>
                <a:ea typeface="Aptos"/>
                <a:cs typeface="Aptos"/>
              </a:rPr>
              <a:t>使用技術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32FD2B-C774-46EC-8F05-66715F99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006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75BFB-7E1D-4D50-ADD1-76115A9F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426EF-2AE3-4F05-A040-B77FB6C4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342F"/>
                </a:solidFill>
                <a:latin typeface="Aptos"/>
                <a:ea typeface="Aptos"/>
                <a:cs typeface="Aptos"/>
              </a:rPr>
              <a:t>核心功能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0D84AF-4655-4D2E-82E3-C8A972C3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959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9FE71-FBF3-4EAA-BB33-C878A223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194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BC31B-D69A-4BEF-8310-D7A0783A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342F"/>
                </a:solidFill>
                <a:latin typeface="Aptos"/>
                <a:ea typeface="Aptos"/>
                <a:cs typeface="Aptos"/>
              </a:rPr>
              <a:t>系統畫面展示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8B7D2E-9E90-46F4-9E3B-85446C58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194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BDB420-6ECE-4DD8-B754-2068EC42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11C92-F927-4C56-8C6B-A1ECE656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342F"/>
                </a:solidFill>
                <a:latin typeface="Aptos"/>
                <a:ea typeface="Aptos"/>
                <a:cs typeface="Aptos"/>
              </a:rPr>
              <a:t>分析流程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BC60E8-5127-40CB-8085-188FC8E9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147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C87D58-B37A-432E-9497-C790E4BE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E72C23-73D9-4C0F-88CE-18DA85FF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0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342F"/>
                </a:solidFill>
                <a:latin typeface="Aptos"/>
                <a:ea typeface="Aptos"/>
                <a:cs typeface="Aptos"/>
              </a:rPr>
              <a:t>實作成果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41C981-356E-4566-BA39-D89D17F1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100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4C8345-D9F6-4F3B-B4DF-D073831B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53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CF2A78-05EF-4DDD-8086-BB4AB029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342F"/>
                </a:solidFill>
                <a:latin typeface="Aptos"/>
                <a:ea typeface="Aptos"/>
                <a:cs typeface="Aptos"/>
              </a:rPr>
              <a:t>遇到問題與解決方式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7DF723-6391-4873-90C3-3804D93C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053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EB6A25-3B72-403D-9FD6-8085D9B0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006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62C2CD-F6AE-4CBF-BBF4-550DA15B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342F"/>
                </a:solidFill>
                <a:latin typeface="Aptos"/>
                <a:ea typeface="Aptos"/>
                <a:cs typeface="Aptos"/>
              </a:rPr>
              <a:t>結論與未來展望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10EF3F-41CA-469F-A31E-0DA0B896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8006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486A64-E918-4787-8988-E22E3831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9775563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E03994-5AD2-46A4-BBD6-D2153019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813EC-7F99-436E-A1C5-58CAB35A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FD140-5350-49AA-9583-BB078B6F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ABAE2-BE9D-4717-879D-3869EAE6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01 研究背景與動機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BD88C-C041-43E5-B128-CB91F21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3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96A4A-AC44-44CC-81CD-AFCF231D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撞球訓練需要即時、客觀、可累積的回饋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F6ACD-904F-4569-8C50-2552B78B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傳統練習多依賴教練經驗或事後觀看影片，缺少能立即量化球位、路線與練習成效的工具。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0DDAA-3AC9-4B64-B6C4-C169729A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B9220-D0CE-4337-83B6-45C1E781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C3AD8-869F-490A-98AA-5DF3C071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現場需求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EBDE7-4DED-45F5-8FA3-2DEC08FF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玩家需要在擊球前後快速知道球路選擇、母球控制與進攻風險。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A4451-2E38-4E9C-ACAD-C9F636A7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8D4CB-0DD2-4B89-B3B6-CA9F2F1E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77920-8B65-4269-9FF7-035E9A12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技術機會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A1F43-14ED-4447-895B-2AE1C0FD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528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Computer Vision、WebSocket、LLM 與雲端資料庫已足以串起即時訓練流程。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84C53-7CFA-4D4A-B1EE-BA965EFD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D4C76-C48D-49D1-9831-6B2A6791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A3065-18B3-4756-B426-5A6FCDF3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專題動機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615A2-0AE2-45D8-B829-ED117351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將辨識、投影、AI 建議與手機數據整合，建立可持續進步的訓練平台。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9A519-8D3D-4A8D-A0D4-AB3C6F88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17190621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D87625-BF03-4192-A345-BC921FF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68038-999B-4F11-A653-41097C38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F41A9-EAC9-4B95-87AC-9012C75D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B46C4-88E9-46FB-AA30-48A1CA8D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02 問題定義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EFDEE-E24D-4025-BF30-06406E86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4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7E467-C682-46E2-9B28-E9ECF53F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目前練習流程的資料斷點太多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5464B-B9C9-42FD-B3F0-3783891C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單純偵測球不等於完成訓練系統；真正問題是即時畫面、擊球結果、回放與長期紀錄沒有被串起來。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9BA9F-8B9C-4511-AAEE-793F4838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2B7D8-AC78-4ED3-B3CD-5BDCAE1E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82E4B-F2EE-463E-83F9-8F4842FF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即時回饋不足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0A151-051D-4ABD-99FE-B572DD73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玩家打完一桿後，很難立刻知道路線是否合理、力道是否過大或母球停位是否穩定。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A07C4-03EF-49F1-9BCB-28C44583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D527E-60AE-4FBA-9007-967033B3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4ECE6-A122-4792-90D1-1233F348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紀錄難以追蹤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B8ABD-5558-4FDF-91D4-C975F36C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528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對戰、練習、回放與能力變化若沒有統一資料模型，後續分析會失去依據。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C31ED-1900-4500-8F09-55ECD77C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4FE23-1D67-4428-9053-58E9C387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CBA50-F30A-423F-B8FB-190AD3D2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跨裝置困難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517E1-7456-4232-AF89-63B580DF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桌面端有相機與投影硬體，手機端需要帳號、社群與數據服務，兩者邊界必須清楚。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48DBB-B2C4-4C82-A8DD-DE24E290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7708415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A7176-385D-433D-808D-92BE1780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3E803-9E76-40EC-A664-9CB088F6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CBD03-F2D9-4400-AEC7-CD3294E0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9F1A7-BF5E-4519-9CE8-D9DE6D62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03 系統目標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A8435-5FDE-4EAE-828F-9DAED775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5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2C539-8F90-49E7-BC17-1C0790CA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建立從現場判斷到手機追蹤的完整閉環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39BE7-BD76-4DB5-9E2E-50D35474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 不是單一模型展示，而是一套能看、能練、能問、能回放、能追蹤的產品型系統。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B66DA-7702-4A37-8495-081514DD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C6D56-53C0-4302-83F5-4A8A4342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87326-36DB-4FCA-BBC8-6D9C8C92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即時辨識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C465B-53B9-4A37-ADED-070777D2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480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偵測球位、球色、球號與穩定狀態，支援畫面 overlay。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23A5A-DAE4-4AFF-83CF-662EE932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400A3-58C4-4A31-B55D-CCF40F00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D2D16-6730-49CD-9850-B1A5E31D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訓練輔助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4D840-AF60-4D9B-B598-9F15F335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用校正與投影顯示擺球位置、目標袋口、輔助線與母球停點。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5B566-807D-45B4-AA17-C2403011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8CDFA-D34E-4D5A-AB6F-FF7EEEC0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544DF-D265-47B2-A722-B1FA28C8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AI Coach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7F216-543A-42A1-8EDC-A6EC95F7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291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把盤面語意轉成自然語氣建議，降低玩家理解門檻。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5490E-C5CC-456A-92DA-07413C6F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57675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2D5D7-B42D-4E08-8500-484E9C31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57675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7E3453-D5CE-48C7-8BC4-F22AD37A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672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Mobile 數據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B78BC-57F6-4E65-992E-DB56FB20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291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提供登入、社群、個人頁、封鎖安全與能力總覽。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14392E-B5A4-4838-A783-0296321D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1174790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F6DB99-C7D4-41DE-AE69-0FD9EE62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AE194-7212-4150-AF3F-FBCB8D60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C2856-A50B-437F-8D8B-AE3258AB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70B3E-405A-454F-AB67-4A655896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04 系統架構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B3262-0581-44E4-AE87-694A5C51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6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6305D-A358-437A-8987-7BFB27DC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桌面端處理低延遲硬體，雲端承接手機資料服務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9B22D-A53C-4F45-896A-AC3E8DDB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相機、YOLO、投影、錄影與 MJPEG 留在本機；Cloud Run mobile-lite 專注手機 API，Supabase 管理帳號與社群資料。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BB2C0-8912-4643-A4CB-C7A32919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7EA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210EE-5415-494B-A37A-1A8420EE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ACB7A-708F-48C6-A9E9-5F015438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桌面前端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C5E7E-B7CC-441F-8785-66074B86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React / TypeScript 操作介面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8F961-6DB9-4BFB-8E86-54041645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481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899DE-FEC3-4618-B0C9-55C7ED43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719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C251C-2F87-4942-9B30-8AAE988D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B0757-84C3-42D6-9C1B-8AB5C26F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8D5DC-82E7-4A47-A142-F1B8CB5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桌面後端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CD1AF-1666-4BE7-B8A6-DB05877D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FastAPI / MJPEG / WebSocket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95B95-7508-4B5E-9B9A-08B80F17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481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690AA-4111-4680-B8C8-9F1FE455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719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0BEA5-CD97-4325-834C-74B23D0A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7EA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0DE70-CAF3-4F71-835B-8E5677E5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EC564-A50D-4EC6-B891-DF34149A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AI Coach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26A31B-E436-43E5-9FC0-0A2AE166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8010 WebSocket / vLLM Gemma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179A8-B355-46E8-95E1-E05C0E0B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481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F53FE2-5120-4013-8A41-CAD5D01C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719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1CFF13-3E51-4756-AFDF-8A56EC27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9323F-F1D9-449F-A21A-D4D2F3E8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6E95A5-BFC5-4DA6-8F8D-1BD1D250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Mobile 雲端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5BC77-A19B-40AB-99F5-84722980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Expo / Cloud Run / Supabase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41529B-6C30-4B17-912E-52AFDC0E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4723354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8BD01C-81EE-40DC-8017-D12F0D02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089BC-13C3-4639-85CD-55C830B8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50605-B008-4D5C-96D2-C368F08C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4755D-81F4-41C1-9D32-1E4506C1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05 使用技術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34AD7-2DCB-40ED-A632-E553396C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7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61DF6-87EB-46A2-B662-EE8A1ED8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以可部署的工程技術串接 AI、前端、後端與雲端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0119C-69A7-4CA9-AEAF-DCC191BA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每項技術都對應到實際系統責任，避免只堆疊工具名詞。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3103A-6DFC-4F3E-ABFC-50A2BA5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238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9643E-9370-4E6E-A0CD-E1E35C96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69301-79B7-4128-81EA-47EA4825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AI 視覺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26C3D-CA74-430A-8D61-13729A06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YOLO、OpenCV、球色/球號後處理、穩定性偵測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EE08D-FF59-4EF8-876C-EFDEAEFF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238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3E949-F2F0-44B4-A55B-8DDC2AF2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6B123-0816-4C61-9E37-8823A5CB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19425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後端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58277-AC9B-44EC-9D91-21B52E28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3375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Python、FastAPI、REST API、WebSocket、SQLite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937EE-4B3A-4545-8E42-29D74D34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238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893FA-BBEE-45FF-B17F-1A7C75E2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6E659-CEC4-46E6-9688-46FED0C3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19425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前端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41812-F016-4257-8C79-356E85F5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React、TypeScript、Vite、Burn-in MJPEG 播放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167C1-E063-4E43-A343-4B49F514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3238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6D7A4-B4EF-46C0-8136-9A801F8E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5F23AB-DBC9-4A45-9E91-6A2B65C5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AI Coach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0D540-E9B2-457C-9CA5-7ACBC219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vLLM、Gemma、語意摘要、對話記憶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F56F77-502A-42A5-ADD6-3E67CBBB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33850"/>
            <a:ext cx="3238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8DDE7-B75B-4577-ABE9-38A12AB7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338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D70CD-5987-4881-8A03-DF731FA0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71975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DA9AF2-D248-408F-97EF-EC77493D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Expo、React Native、Cloud Run mobile-lite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69844-8600-49C7-86B4-9955746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33850"/>
            <a:ext cx="3238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D977C6-E6FC-4F8B-8868-F6862DC5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338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56634E-C596-434C-989C-95E4D1E0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71975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資料庫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5E7231-872F-48DB-8EEB-93B0FC16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Supabase、帳號 Session、社群貼文與好友資料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DDD3F5-A2D5-4193-8229-C10A43D8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6299375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4AEBA3-1B3C-47C2-A728-D87E9AEC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78B8D-5AC0-4959-AA66-C7593259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DB06B-7DAB-45DE-8C5E-05415BDA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4F215-ED6E-4495-8724-327316D7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06 核心功能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0BF48-1A17-4089-BCC6-2CE8AFDB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8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DD605-C9FF-4F03-BE45-0EB709D2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功能設計圍繞訓練閉環，而不是單點展示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899D2-7923-4649-BE76-CD37D2D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核心功能分成現場輔助、AI 建議、回放分析與手機追蹤四個面向。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A3725-D398-49F4-9CDE-0663ADC7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C8582-92F3-40C1-B17D-B305AA2B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298F8-71EC-466B-8254-8789320F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現場監控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4DDA0-60F2-4EF1-A816-A1FC2604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480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即時串流、球框 overlay、系統狀態、連線健康。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CB630-25DD-49D8-B006-D185F1A5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09777-0FBB-46E6-8E45-B441B62B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D4218-553D-459C-866E-04431ECB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練習投影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D98EA-CBE8-40AF-B43E-A0509AD1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球桌校正、擺球輔助、路線提示、準度訓練。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4902F-7BD7-478E-9A21-0ED03EE0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85082-D26A-46B7-BC74-2A47FAA0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06A1F-346B-4F4D-AE1C-EFD43191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AI 對話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9E9A1-1DEC-427D-AE41-0FA0C139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291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畫面分析、產生建議、非畫面問答、操作導覽。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EC3D27-79B2-4F4D-9806-98DCF5FE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57675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4E474-D894-45CC-A0B1-A72D7B89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57675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BA5DB-B62F-4960-A2F5-F762C679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672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回放與 Mobile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01AD5-BC4B-4628-9B63-8CCF0FC8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291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錄影列表、事件紀錄、個人頁、社群、數據總覽。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5A0AC-CD8A-4671-9DEC-D897F417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9063245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BEA6F2-A25B-4401-9503-E7A792AE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71538-1785-4CE2-8B3C-2BC53018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A3D72-5D70-4C24-9B1E-5E3473D1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98987-EEF6-4163-B411-8EF8648D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07 系統畫面展示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D9D25-DE61-427A-8388-82619DAC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9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04C9F-ABD0-4A81-B0FA-E7B9F406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桌面端、AI Coach 與 Mobile 形成三個主要使用入口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27415-DC0E-45BC-9A28-5D57F3E1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使用者在桌面端完成即時訓練，在 AI Coach 取得建議，並於手機端追蹤個人資料與數據。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EBB5E-7BB1-4DFE-89ED-E5536857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B28E8-B851-4727-B004-6B730ECC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895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1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C98B5-0D37-4CDF-BADE-8B989B6C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90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A163A-21A7-4472-B9BF-AC635294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57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36756-4F24-4D9D-9A00-262589D0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F3CF8-FBC5-42B0-B6D4-12E67D43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桌面監控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6F7E3-AC65-4EEF-AA9D-CD976E2C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Burn-in 串流、YOLO 狀態、練習/路線面板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595B9-8230-44EC-AEEF-CECA9B7A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A9CAC6-7F7B-49A9-9930-26C3144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2895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7EA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DC2EB-F399-4120-8F48-3173895C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38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AA853-91E9-4E12-A670-750B680B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195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39D24-D047-4AE3-86BA-31DA0A88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2430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3C5B9-7730-4BED-8AD5-1194905D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AI Coach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8425F-791F-4111-A95B-557D2C22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2917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畫面分析、產生建議、自然語氣問答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A0D25-3CAD-403E-9B74-A61312DA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5B8ED-EF76-4776-976C-DDBC085A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2895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F6353A-C8D0-49B4-A5A9-8F0FBB9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00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D5133-A7E2-46E2-84D1-86E17738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51474-5239-47F2-9D30-D2F385CF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EB45EE-FF17-493C-B66F-2F5009B0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71950"/>
            <a:ext cx="1885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8CF8DE-9EB7-49AF-9B40-73BECF43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Mobile App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17E29B-F823-4D16-9BE5-E50B1AF6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2917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登入、社群、個人頁、能力總覽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A67E6B-103F-43CE-855E-65CEEA8C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17263075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DFA744-99B4-4083-9FCB-D3CA68FC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A1DFE-F5CD-408C-80A3-A58B682F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03119-D55D-4D42-8C4F-963AD576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A2B64-C111-4809-A37B-813FB3D6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08 分析流程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A26DE-AEBD-4251-A1E0-8C50C496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10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E3E72-23AE-4079-B1C9-E6D581DC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從影像到建議，先產生可信 metadata 再交給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AB66C-B926-4261-9581-296721FC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分析流程先完成球桌校正與偵測，再將盤面轉成語意摘要，避免模型直接讀取混亂的原始狀態。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9CB4C-44C1-493A-B43B-02510814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7EA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9F81A-6129-48C2-8EC5-8A59DAC0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AE524-8BE4-4966-B66C-511D3A0D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影像輸入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989DF-B7B7-4007-BE5A-028F2D59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相機畫面 / ROI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5AAE5-7471-49F6-B033-4E11AAC2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481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84593-24A2-416D-A9BA-6BA7492A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719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491F8-AAD6-473C-85A4-23F4FD8E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7C5CE-3C91-4C6E-AB76-AC02C657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40544-4097-4F4F-9C58-5CBD1921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辨識與校正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F08636-0C4C-4748-9FAA-B63B4036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YOLO / 球桌座標 / 球色球號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ECCF6-CB05-44F3-A130-F424DD2E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481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F31FA-D9C9-4D16-9D13-00E91424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719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E70F45-0500-4494-9E1C-E1C9CC83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7EA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8BA2C-CC20-4993-ACE0-4AB50798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4CFBDA-CF3E-4F1F-95E8-B686374C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語意摘要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FADC7-8D65-4F96-8FEC-E5395678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合法目標 / 袋口線索 / 風險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8B665-FEBF-4898-ABA2-5C3DC135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481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0E559F-91A0-4081-B120-64836E2C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71900"/>
            <a:ext cx="13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B9CB58-CCE7-4D88-84AE-D8E894F8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C3EC6E-33C1-4E1B-AA6A-E6AE5022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147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60B00F-C3EA-4994-955A-0BEAC2C8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05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輸出回饋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83EE9B-80BF-41DB-B81B-6659F2C5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10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Overlay / 投影 / AI 建議 / 回放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917E80-1F12-4B21-9F6E-CF360ECB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5255248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3AA431-D254-4971-A83C-99845CA7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7A0DC-1011-4FF4-A899-568D6A05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FA56E-E1C2-4AB0-B2E6-B6E18068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9A68F-0CF0-4DD2-8D22-A9B9F18B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09 實作成果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78D16-D25B-44FB-B4F2-00EEF6CA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11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652DC-B273-423B-9398-A1042635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目前已完成可示範的端到端系統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B26AF-4155-4F82-BF2D-43128FAC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成果橫跨桌面端、AI Coach、遠端存取與 Mobile V1，具備完整專題展示素材。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EABB8-4B99-4817-B05F-EFBEF301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27697-2946-4010-846F-FD5C56FA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6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F64"/>
                </a:solidFill>
                <a:latin typeface="Aptos"/>
                <a:ea typeface="Aptos"/>
                <a:cs typeface="Aptos"/>
              </a:rPr>
              <a:t>模組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87EC8-96FA-468D-8FB7-F4D6AF9A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099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6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F64"/>
                </a:solidFill>
                <a:latin typeface="Aptos"/>
                <a:ea typeface="Aptos"/>
                <a:cs typeface="Aptos"/>
              </a:rPr>
              <a:t>技術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5FF3F-D584-4D13-A9C5-C4BEF51E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6F6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F64"/>
                </a:solidFill>
                <a:latin typeface="Aptos"/>
                <a:ea typeface="Aptos"/>
                <a:cs typeface="Aptos"/>
              </a:rPr>
              <a:t>成果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2BCBB-4699-4E67-BBCC-5A86CB13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71CDF-BB10-4E39-A644-F7DE7999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桌面端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5AB83-4ECF-4D20-94A6-B060D251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242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FastAPI + React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8AAE2-4555-4264-A352-97F57D89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監控、YOLO、投影校正、練習、錄影回放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CD82B-CC6B-4B9C-BE0D-D3596551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D5572-0551-4D80-8EBF-6E166EF3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AI Coach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06A4C-AE90-4C5D-9100-ECF684AF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100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vLLM + Gemma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F2A86-E155-4CAF-8D2B-B16447D4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00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對話記憶、畫面分析、產生建議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D0D168-74E7-4381-A7B2-DFCD3B1F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A9429-F651-4A3A-A16C-E973E654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E1685-62AF-4303-9A45-94707417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95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Expo + Cloud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9BF3E-DC4D-4376-B482-15D0D9C7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登入、社群、個人頁、封鎖安全、數據看板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BE374-AF88-4BBC-8A12-8E7705DE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7A239-4EEF-4EC7-9C8F-1311E34F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工程化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579B1B-74C6-4BD2-AE3C-81FF1ADA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5816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Docs + diagnostics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2CABEE-0F44-4F9F-8863-CF67A306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816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API 文件、診斷端點、測試規範、部署腳本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828EA4-26FF-4A95-BBAA-8A4FF7CE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11253200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0A0BE4-83AB-4EEA-8AC5-E2A177B4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BD9CC-09FA-420F-BE89-5FFD23B7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C2747-AF5D-460F-B0CD-28370190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587FA-4175-49B0-BD3D-ED431CE2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10 遇到問題與解決方式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78910-3B21-4C6B-9648-2E58A977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12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2FC24-1D5A-4997-AA4A-D706DF74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主要挑戰集中在即時同步、部署邊界與錯誤診斷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08CD7-F2EB-4622-9A5F-E3E05393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專題不只完成功能，也把常見錯誤轉成可診斷、可維護的工程流程。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E79A8-FC4D-4955-9EF6-64BBE52A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6E39E-C1A7-4150-8EE6-63509D36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14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E6833-EC18-4585-9310-17271CA8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畫面與 overlay 同步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FAD75-41CA-4729-8EC9-8F3560C9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改採後端 Burn-in MJPEG，前端播放已合成畫面，降低疊圖延遲與座標偏移。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2D1EC-8A21-4D15-AAE5-3BAF6512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A9F65-B53B-4726-ABB8-D66EEBC2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114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DF89E-BD85-44FE-98E9-068A7ECA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Mobile 500 難定位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9FB58-398F-4802-96B3-A3EC5AD6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新增 Cloud Run 與 profile diagnostics，回傳 Supabase 連線與資料表狀態。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EEC35-6EFC-4C37-B08D-D8A56380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4EB27-226F-447A-958A-A55D5D77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14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48EF1-11FA-4F91-ACFB-7A7BBE56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AI Coach 服務漂移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E9150-67CA-4F8B-B6BF-7CD1F011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固定 8010 WebSocket service，啟動時檢查 vLLM ready 與 health 狀態。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91A77-715B-4A17-B42D-C5DC7898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005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0EC34-AAE9-4B8E-ABCE-6279241B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0050"/>
            <a:ext cx="114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844DD-7A1E-49A8-A57C-1130D52C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功能使用邊界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6A3DE6-BF35-4BE4-90E6-F5467611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遊玩模式限制 AI Coach，避免即時戰術建議造成作弊疑慮。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B801DF-C14E-49C4-B50A-247F0F69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126688286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03E30C-61C5-44A2-A0D1-9836AF2D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195F3-B99B-4B46-93EE-7B638466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F5181-130B-4987-93B7-92A23C60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A31BA-C74C-4647-A4EB-195D827B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DFC9"/>
                </a:solidFill>
                <a:latin typeface="Aptos"/>
                <a:ea typeface="Aptos"/>
                <a:cs typeface="Aptos"/>
              </a:rPr>
              <a:t>11 結論與未來展望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5D370-B9C2-4695-94A1-8A16F415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9DF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DFC9"/>
                </a:solidFill>
                <a:latin typeface="Aptos"/>
                <a:ea typeface="Aptos"/>
                <a:cs typeface="Aptos"/>
              </a:rPr>
              <a:t>13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44C38-2DD3-4DAB-B2DE-80622E13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342F"/>
                </a:solidFill>
                <a:latin typeface="Aptos Display"/>
                <a:ea typeface="Aptos Display"/>
                <a:cs typeface="Aptos Display"/>
              </a:rPr>
              <a:t>CueVex 已形成可持續迭代的智慧訓練平台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BC3A5-50C5-464B-926D-E7B91FB2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下一階段重點是提高數據可信度，讓 AI Coach 從建議工具進一步成為個人化訓練系統。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ABB07-2F01-4FC0-B946-A9851249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05F6A-E0E2-4F09-B80D-FDC1008F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8281E-316E-4911-9D39-BBD8AA2C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結論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77713-25B5-49FE-83DD-1A272251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 將即時辨識、投影練習、AI 建議、回放與手機數據整合成完整訓練閉環。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9A231-B205-416A-BC56-01651816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62760-D818-4A0F-A054-1544BED2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3F0FF-FE14-49E0-B178-434FE219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近期改進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824E7-4F18-4590-9749-A4257DF3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528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補齊單球擊球事件、角度誤差、力道誤差與母球落點紀錄，提高分析粒度。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30498-77FD-4B58-9E0E-CAAE87F5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8382F-A1D1-4AD7-9902-4AE07CBB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4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726BF-96CE-4100-BDCE-851791B7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42F"/>
                </a:solidFill>
                <a:latin typeface="Aptos"/>
                <a:ea typeface="Aptos"/>
                <a:cs typeface="Aptos"/>
              </a:rPr>
              <a:t>未來展望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7046EB-D7EB-49E5-A408-1232B3DC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支援更精準的能力評分、個人化訓練排程、多桌管理與更穩定的正式部署。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16F67-2D6C-4DA4-9BBF-5B50B477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64"/>
                </a:solidFill>
                <a:latin typeface="Aptos"/>
                <a:ea typeface="Aptos"/>
                <a:cs typeface="Aptos"/>
              </a:rPr>
              <a:t>CueVex｜智慧撞球訓練平台</a:t>
            </a:r>
          </a:p>
        </p:txBody>
      </p:sp>
    </p:spTree>
    <p:extLst>
      <p:ext uri="{BB962C8B-B14F-4D97-AF65-F5344CB8AC3E}">
        <p14:creationId xmlns:p14="http://schemas.microsoft.com/office/powerpoint/2010/main" val="1804400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2026-06-07T12:16:16.3510000Z</dcterms:created>
  <dcterms:modified xsi:type="dcterms:W3CDTF">2026-06-07T12:16:16.3510000Z</dcterms:modified>
</coreProperties>
</file>